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0"/>
  </p:notesMasterIdLst>
  <p:sldIdLst>
    <p:sldId id="257" r:id="rId2"/>
    <p:sldId id="258" r:id="rId3"/>
    <p:sldId id="259" r:id="rId4"/>
    <p:sldId id="262" r:id="rId5"/>
    <p:sldId id="263" r:id="rId6"/>
    <p:sldId id="264" r:id="rId7"/>
    <p:sldId id="265" r:id="rId8"/>
    <p:sldId id="266" r:id="rId9"/>
  </p:sldIdLst>
  <p:sldSz cx="9144000" cy="5143500" type="screen16x9"/>
  <p:notesSz cx="6858000" cy="9144000"/>
  <p:embeddedFontLst>
    <p:embeddedFont>
      <p:font typeface="Proxima Nova" panose="020B060402020202020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8766" autoAdjust="0"/>
  </p:normalViewPr>
  <p:slideViewPr>
    <p:cSldViewPr snapToGrid="0">
      <p:cViewPr varScale="1">
        <p:scale>
          <a:sx n="85" d="100"/>
          <a:sy n="85" d="100"/>
        </p:scale>
        <p:origin x="966" y="7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Begin by introducing yourself and the purpose behind creating the Health Score Predictor project. Explain that the goal was to use machine learning not only as a technical exercise but as a meaningful application in preventive healthcare. Highlight how the model classifies health status based on measurable factors such as BMI, activity, and sleep, and why such predictive tools are increasingly vital for personalized wellness.</a:t>
            </a:r>
          </a:p>
          <a:p>
            <a:endParaRPr/>
          </a:p>
          <a:p>
            <a:r>
              <a:t>Emphasize that this project demonstrates the full lifecycle of an ML workflow—from data acquisition and cleaning, to model training and deployment. Stress the use of Streamlit for interactivity, turning a static model into a live application accessible by non-technical users.</a:t>
            </a:r>
          </a:p>
          <a:p>
            <a:endParaRPr/>
          </a:p>
          <a:p>
            <a:r>
              <a:t>Conclude by positioning this project as an example of how AI can translate data-driven insights into real-world health improvements, serving as both an academic and practical demonstration of machine learning’s impact.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In this slide, explain the overarching purpose of your Health Score Predictor project. Start by framing the problem: predicting whether an individual’s health status is likely to be 'Good' or 'Bad' using key health indicators. </a:t>
            </a:r>
          </a:p>
          <a:p>
            <a:endParaRPr/>
          </a:p>
          <a:p>
            <a:r>
              <a:t>Discuss your use of a supervised learning framework—why labeled data enables accurate classification—and how you benchmarked multiple algorithms to identify the most reliable model. Highlight that performance evaluation guided the model selection process, ensuring both accuracy and interpretability.</a:t>
            </a:r>
          </a:p>
          <a:p>
            <a:endParaRPr/>
          </a:p>
          <a:p>
            <a:r>
              <a:t>Conclude by noting that deployment through Streamlit transforms your trained model into an interactive application, bridging data science and user experience to support everyday health monitoring.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Explain the key features driving your model’s predictions. Discuss how the selected parameters represent a mix of biological, behavioral, and lifestyle indicators.</a:t>
            </a:r>
          </a:p>
          <a:p>
            <a:endParaRPr/>
          </a:p>
          <a:p>
            <a:r>
              <a:t>Describe the reasoning for choosing these eight inputs—each variable contributes a measurable dimension to overall wellness. For example, BMI and cholesterol capture physiological health, while activity and sleep reflect behavioral factors.</a:t>
            </a:r>
          </a:p>
          <a:p>
            <a:endParaRPr/>
          </a:p>
          <a:p>
            <a:r>
              <a:t>Conclude by clarifying that the model predicts a binary target (Good vs. Bad health). This classification simplifies interpretation and enables actionable insights, which are crucial for preventive healthcare applications.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Detail your model training pipeline, explaining the rationale for splitting the dataset into training and test sets to assess generalization. Describe how you compared different algorithms—Logistic Regression for interpretability, Random Forest for robustness, and Gradient Boosting for complexity.</a:t>
            </a:r>
          </a:p>
          <a:p>
            <a:endParaRPr/>
          </a:p>
          <a:p>
            <a:r>
              <a:t>Discuss hyperparameter tuning techniques and how iterative testing improved performance. Reinforce that using accuracy as the main metric makes sense in this context due to a balanced dataset.</a:t>
            </a:r>
          </a:p>
          <a:p>
            <a:endParaRPr/>
          </a:p>
          <a:p>
            <a:r>
              <a:t>Conclude by noting how this stage bridges the gap between exploratory insights and measurable predictive performance.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Present your evaluation findings, focusing on comparative performance across the three tested algorithms. Emphasize that Logistic Regression achieved the highest accuracy while maintaining transparency in how decisions are made.</a:t>
            </a:r>
          </a:p>
          <a:p>
            <a:endParaRPr/>
          </a:p>
          <a:p>
            <a:r>
              <a:t>Explain the meaning of the ROC curve and how it validates classification performance by showing strong separation between classes. Highlight that interpretability and speed were prioritized for deployment.</a:t>
            </a:r>
          </a:p>
          <a:p>
            <a:endParaRPr/>
          </a:p>
          <a:p>
            <a:r>
              <a:t>Wrap up by linking these results to real-world usability—simple, explainable models are often more trusted in health-related applications.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Discuss why Logistic Regression was ultimately chosen as the best model. Emphasize that its balance of interpretability and accuracy makes it ideal for healthcare analytics, where clarity of prediction is essential.</a:t>
            </a:r>
          </a:p>
          <a:p>
            <a:endParaRPr/>
          </a:p>
          <a:p>
            <a:r>
              <a:t>Explain that it not only performed well but also remained computationally light, allowing real-time deployment in Streamlit. Reinforce the benefit of visible coefficients for interpretability.</a:t>
            </a:r>
          </a:p>
          <a:p>
            <a:endParaRPr/>
          </a:p>
          <a:p>
            <a:r>
              <a:t>Conclude by noting that this model embodies the project’s goal: accurate, understandable, and actionable health predictions.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Demonstrate how your model was operationalized using Streamlit. Explain how the web interface lets users input their health metrics and instantly view predicted health status.</a:t>
            </a:r>
          </a:p>
          <a:p>
            <a:endParaRPr/>
          </a:p>
          <a:p>
            <a:r>
              <a:t>Describe how you saved and loaded the model and scaler using Joblib, ensuring repeatable, consistent results. Emphasize the design simplicity of Streamlit—its ability to transform data science projects into functional, interactive tools.</a:t>
            </a:r>
          </a:p>
          <a:p>
            <a:endParaRPr/>
          </a:p>
          <a:p>
            <a:r>
              <a:t>Wrap up by showing how this app completes the end-to-end ML pipeline—from raw data to real-time predictions in a user-friendly web environment.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userDrawn="1">
  <p:cSld name="SECTION_HEADER">
    <p:bg>
      <p:bgPr>
        <a:solidFill>
          <a:schemeClr val="dk1"/>
        </a:solidFill>
        <a:effectLst/>
      </p:bgPr>
    </p:bg>
    <p:spTree>
      <p:nvGrpSpPr>
        <p:cNvPr id="1" name="Shape 13"/>
        <p:cNvGrpSpPr/>
        <p:nvPr/>
      </p:nvGrpSpPr>
      <p:grpSpPr>
        <a:xfrm>
          <a:off x="0" y="0"/>
          <a:ext cx="0" cy="0"/>
          <a:chOff x="0" y="0"/>
          <a:chExt cx="0" cy="0"/>
        </a:xfrm>
      </p:grpSpPr>
      <p:cxnSp>
        <p:nvCxnSpPr>
          <p:cNvPr id="14" name="Google Shape;14;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5" name="Google Shape;15;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311700" y="1304875"/>
            <a:ext cx="8520600" cy="34164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SzPts val="1600"/>
              <a:buChar char="●"/>
              <a:defRPr sz="16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4"/>
          <p:cNvSpPr txBox="1">
            <a:spLocks noGrp="1"/>
          </p:cNvSpPr>
          <p:nvPr>
            <p:ph type="subTitle" idx="2"/>
          </p:nvPr>
        </p:nvSpPr>
        <p:spPr>
          <a:xfrm>
            <a:off x="387975" y="789025"/>
            <a:ext cx="8520600" cy="833100"/>
          </a:xfrm>
          <a:prstGeom prst="rect">
            <a:avLst/>
          </a:prstGeom>
        </p:spPr>
        <p:txBody>
          <a:bodyPr spcFirstLastPara="1" wrap="square" lIns="91425" tIns="91425" rIns="91425" bIns="91425" anchor="t" anchorCtr="0">
            <a:normAutofit/>
          </a:bodyPr>
          <a:lstStyle>
            <a:lvl1pPr lvl="0">
              <a:spcBef>
                <a:spcPts val="0"/>
              </a:spcBef>
              <a:spcAft>
                <a:spcPts val="0"/>
              </a:spcAft>
              <a:buSzPts val="15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userDrawn="1">
  <p:cSld name="TITLE_AND_BODY_1">
    <p:spTree>
      <p:nvGrpSpPr>
        <p:cNvPr id="1" name="Shape 23"/>
        <p:cNvGrpSpPr/>
        <p:nvPr/>
      </p:nvGrpSpPr>
      <p:grpSpPr>
        <a:xfrm>
          <a:off x="0" y="0"/>
          <a:ext cx="0" cy="0"/>
          <a:chOff x="0" y="0"/>
          <a:chExt cx="0" cy="0"/>
        </a:xfrm>
      </p:grpSpPr>
      <p:sp>
        <p:nvSpPr>
          <p:cNvPr id="24" name="Google Shape;24;p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5"/>
          <p:cNvSpPr txBox="1">
            <a:spLocks noGrp="1"/>
          </p:cNvSpPr>
          <p:nvPr>
            <p:ph type="title" hasCustomPrompt="1"/>
          </p:nvPr>
        </p:nvSpPr>
        <p:spPr>
          <a:xfrm>
            <a:off x="311700" y="0"/>
            <a:ext cx="8520600" cy="712925"/>
          </a:xfrm>
          <a:prstGeom prst="rect">
            <a:avLst/>
          </a:prstGeom>
        </p:spPr>
        <p:txBody>
          <a:bodyPr spcFirstLastPara="1" wrap="square" lIns="91425" tIns="91425" rIns="91425" bIns="91425" anchor="ctr"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dirty="0"/>
              <a:t>Agenda</a:t>
            </a:r>
            <a:endParaRPr dirty="0"/>
          </a:p>
        </p:txBody>
      </p:sp>
      <p:sp>
        <p:nvSpPr>
          <p:cNvPr id="26" name="Google Shape;26;p5"/>
          <p:cNvSpPr txBox="1">
            <a:spLocks noGrp="1"/>
          </p:cNvSpPr>
          <p:nvPr>
            <p:ph type="body" idx="1"/>
          </p:nvPr>
        </p:nvSpPr>
        <p:spPr>
          <a:xfrm>
            <a:off x="311700" y="1194734"/>
            <a:ext cx="8520600" cy="3850965"/>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dirty="0"/>
          </a:p>
        </p:txBody>
      </p:sp>
      <p:sp>
        <p:nvSpPr>
          <p:cNvPr id="27" name="Google Shape;27;p5"/>
          <p:cNvSpPr txBox="1">
            <a:spLocks noGrp="1"/>
          </p:cNvSpPr>
          <p:nvPr>
            <p:ph type="sldNum" idx="12"/>
          </p:nvPr>
        </p:nvSpPr>
        <p:spPr>
          <a:xfrm>
            <a:off x="8832297" y="4863993"/>
            <a:ext cx="311411" cy="192824"/>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10" name="Subtitle 1">
            <a:extLst>
              <a:ext uri="{FF2B5EF4-FFF2-40B4-BE49-F238E27FC236}">
                <a16:creationId xmlns:a16="http://schemas.microsoft.com/office/drawing/2014/main" id="{0D296A4F-FF01-A06E-7AAA-3D203B6399A4}"/>
              </a:ext>
            </a:extLst>
          </p:cNvPr>
          <p:cNvSpPr>
            <a:spLocks noGrp="1"/>
          </p:cNvSpPr>
          <p:nvPr>
            <p:ph type="subTitle" idx="13"/>
          </p:nvPr>
        </p:nvSpPr>
        <p:spPr>
          <a:xfrm>
            <a:off x="311699" y="712926"/>
            <a:ext cx="8520599" cy="481810"/>
          </a:xfrm>
        </p:spPr>
        <p:txBody>
          <a:bodyPr tIns="0" anchor="t">
            <a:normAutofit/>
          </a:bodyPr>
          <a:lstStyle>
            <a:lvl1pPr marL="0" indent="0" algn="l">
              <a:lnSpc>
                <a:spcPct val="100000"/>
              </a:lnSpc>
              <a:buNone/>
              <a:defRPr sz="1600"/>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body" idx="1"/>
          </p:nvPr>
        </p:nvSpPr>
        <p:spPr>
          <a:xfrm>
            <a:off x="311700" y="13810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6"/>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a:spLocks noGrp="1"/>
          </p:cNvSpPr>
          <p:nvPr>
            <p:ph type="subTitle" idx="3"/>
          </p:nvPr>
        </p:nvSpPr>
        <p:spPr>
          <a:xfrm>
            <a:off x="386975" y="8640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34" name="Google Shape;34;p6"/>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7" name="Google Shape;3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cxnSp>
        <p:nvCxnSpPr>
          <p:cNvPr id="46" name="Google Shape;46;p10"/>
          <p:cNvCxnSpPr/>
          <p:nvPr/>
        </p:nvCxnSpPr>
        <p:spPr>
          <a:xfrm>
            <a:off x="5029675" y="4495500"/>
            <a:ext cx="468300" cy="0"/>
          </a:xfrm>
          <a:prstGeom prst="straightConnector1">
            <a:avLst/>
          </a:prstGeom>
          <a:noFill/>
          <a:ln w="19050" cap="flat" cmpd="sng">
            <a:solidFill>
              <a:schemeClr val="dk1"/>
            </a:solidFill>
            <a:prstDash val="solid"/>
            <a:round/>
            <a:headEnd type="none" w="sm" len="sm"/>
            <a:tailEnd type="none" w="sm" len="sm"/>
          </a:ln>
        </p:spPr>
      </p:cxn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48" name="Google Shape;48;p10"/>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9" name="Google Shape;49;p10"/>
          <p:cNvSpPr txBox="1">
            <a:spLocks noGrp="1"/>
          </p:cNvSpPr>
          <p:nvPr>
            <p:ph type="body" idx="1"/>
          </p:nvPr>
        </p:nvSpPr>
        <p:spPr>
          <a:xfrm>
            <a:off x="3117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50" name="Google Shape;50;p10"/>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51" name="Google Shape;51;p10"/>
          <p:cNvSpPr txBox="1">
            <a:spLocks noGrp="1"/>
          </p:cNvSpPr>
          <p:nvPr>
            <p:ph type="subTitle" idx="3"/>
          </p:nvPr>
        </p:nvSpPr>
        <p:spPr>
          <a:xfrm>
            <a:off x="386975" y="7878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52" name="Google Shape;52;p10"/>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a:endParaRPr/>
          </a:p>
        </p:txBody>
      </p:sp>
      <p:sp>
        <p:nvSpPr>
          <p:cNvPr id="53" name="Google Shape;53;p10"/>
          <p:cNvSpPr txBox="1">
            <a:spLocks noGrp="1"/>
          </p:cNvSpPr>
          <p:nvPr>
            <p:ph type="sldNum" idx="5"/>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1"/>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2"/>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2"/>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60" name="Google Shape;60;p12"/>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hyperlink" Target="https://creativecommons.org/licenses/by-nc-sa/3.0/" TargetMode="External"/><Relationship Id="rId5" Type="http://schemas.openxmlformats.org/officeDocument/2006/relationships/hyperlink" Target="https://litfl.com/navigating-risks-of-artificial-intelligence-in-healthcare/" TargetMode="Externa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End-to-End ML Project: </a:t>
            </a:r>
            <a:r>
              <a:rPr lang="en-US" sz="2800" b="1" dirty="0">
                <a:solidFill>
                  <a:srgbClr val="7030A0"/>
                </a:solidFill>
                <a:latin typeface="Times New Roman" panose="02020603050405020304" pitchFamily="18" charset="0"/>
                <a:cs typeface="Times New Roman" panose="02020603050405020304" pitchFamily="18" charset="0"/>
              </a:rPr>
              <a:t>“Health Score Predictor”</a:t>
            </a:r>
          </a:p>
        </p:txBody>
      </p:sp>
      <p:sp>
        <p:nvSpPr>
          <p:cNvPr id="4" name="Subtitle 3"/>
          <p:cNvSpPr>
            <a:spLocks noGrp="1"/>
          </p:cNvSpPr>
          <p:nvPr>
            <p:ph type="subTitle" idx="13"/>
          </p:nvPr>
        </p:nvSpPr>
        <p:spPr>
          <a:xfrm>
            <a:off x="355116" y="670166"/>
            <a:ext cx="8520599" cy="481810"/>
          </a:xfrm>
        </p:spPr>
        <p:txBody>
          <a:bodyPr/>
          <a:lstStyle/>
          <a:p>
            <a:r>
              <a:rPr lang="en-US" dirty="0"/>
              <a:t>                    </a:t>
            </a:r>
            <a:r>
              <a:rPr lang="en-US" i="1" dirty="0">
                <a:latin typeface="+mj-lt"/>
                <a:cs typeface="MV Boli" panose="02000500030200090000" pitchFamily="2" charset="0"/>
              </a:rPr>
              <a:t>Predicting Health Status (Good / Bad) with Machine Learning</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171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7170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tmps8prjxyp.png"/>
          <p:cNvPicPr>
            <a:picLocks noChangeAspect="1"/>
          </p:cNvPicPr>
          <p:nvPr/>
        </p:nvPicPr>
        <p:blipFill>
          <a:blip r:embed="rId3"/>
          <a:stretch>
            <a:fillRect/>
          </a:stretch>
        </p:blipFill>
        <p:spPr>
          <a:xfrm>
            <a:off x="8263468" y="93504"/>
            <a:ext cx="481810" cy="481810"/>
          </a:xfrm>
          <a:prstGeom prst="rect">
            <a:avLst/>
          </a:prstGeom>
        </p:spPr>
      </p:pic>
      <p:sp>
        <p:nvSpPr>
          <p:cNvPr id="14" name="Rectangle 13"/>
          <p:cNvSpPr/>
          <p:nvPr/>
        </p:nvSpPr>
        <p:spPr>
          <a:xfrm>
            <a:off x="47244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675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67500" y="1508670"/>
            <a:ext cx="304800" cy="304800"/>
          </a:xfrm>
          <a:prstGeom prst="rect">
            <a:avLst/>
          </a:prstGeom>
          <a:noFill/>
          <a:ln>
            <a:noFill/>
          </a:ln>
        </p:spPr>
        <p:txBody>
          <a:bodyPr wrap="square" lIns="0" tIns="0" rIns="0" bIns="0" anchor="t">
            <a:spAutoFit/>
          </a:bodyPr>
          <a:lstStyle/>
          <a:p>
            <a:pPr algn="ctr"/>
            <a:endParaRPr/>
          </a:p>
        </p:txBody>
      </p:sp>
      <p:sp>
        <p:nvSpPr>
          <p:cNvPr id="18" name="TextBox 17"/>
          <p:cNvSpPr txBox="1"/>
          <p:nvPr/>
        </p:nvSpPr>
        <p:spPr>
          <a:xfrm>
            <a:off x="4724400" y="1965870"/>
            <a:ext cx="4190999" cy="205680"/>
          </a:xfrm>
          <a:prstGeom prst="rect">
            <a:avLst/>
          </a:prstGeom>
          <a:noFill/>
          <a:ln>
            <a:noFill/>
          </a:ln>
        </p:spPr>
        <p:txBody>
          <a:bodyPr wrap="square" lIns="0" tIns="0" rIns="0" bIns="0" anchor="t">
            <a:spAutoFit/>
          </a:bodyPr>
          <a:lstStyle/>
          <a:p>
            <a:pPr algn="ctr"/>
            <a:r>
              <a:rPr sz="1300" b="0" i="0" dirty="0">
                <a:solidFill>
                  <a:srgbClr val="616161"/>
                </a:solidFill>
                <a:latin typeface="Proxima Nova"/>
              </a:rPr>
              <a:t>.</a:t>
            </a:r>
          </a:p>
        </p:txBody>
      </p:sp>
      <p:sp>
        <p:nvSpPr>
          <p:cNvPr id="19" name="Rectangle 18"/>
          <p:cNvSpPr/>
          <p:nvPr/>
        </p:nvSpPr>
        <p:spPr>
          <a:xfrm>
            <a:off x="228598" y="1246828"/>
            <a:ext cx="8234917" cy="334643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0" name="Rectangle 19"/>
          <p:cNvSpPr/>
          <p:nvPr/>
        </p:nvSpPr>
        <p:spPr>
          <a:xfrm>
            <a:off x="21717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171700" y="3093392"/>
            <a:ext cx="304800" cy="304800"/>
          </a:xfrm>
          <a:prstGeom prst="rect">
            <a:avLst/>
          </a:prstGeom>
          <a:noFill/>
          <a:ln>
            <a:noFill/>
          </a:ln>
        </p:spPr>
        <p:txBody>
          <a:bodyPr wrap="square" lIns="0" tIns="0" rIns="0" bIns="0" anchor="t">
            <a:spAutoFit/>
          </a:bodyPr>
          <a:lstStyle/>
          <a:p>
            <a:pPr algn="ctr"/>
            <a:endParaRPr/>
          </a:p>
        </p:txBody>
      </p:sp>
      <p:sp>
        <p:nvSpPr>
          <p:cNvPr id="24" name="Rectangle 23"/>
          <p:cNvSpPr/>
          <p:nvPr/>
        </p:nvSpPr>
        <p:spPr>
          <a:xfrm>
            <a:off x="47244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6675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67500" y="3093392"/>
            <a:ext cx="304800" cy="304800"/>
          </a:xfrm>
          <a:prstGeom prst="rect">
            <a:avLst/>
          </a:prstGeom>
          <a:noFill/>
          <a:ln>
            <a:noFill/>
          </a:ln>
        </p:spPr>
        <p:txBody>
          <a:bodyPr wrap="square" lIns="0" tIns="0" rIns="0" bIns="0" anchor="t">
            <a:spAutoFit/>
          </a:bodyPr>
          <a:lstStyle/>
          <a:p>
            <a:pPr algn="ctr"/>
            <a:endParaRPr/>
          </a:p>
        </p:txBody>
      </p:sp>
      <p:pic>
        <p:nvPicPr>
          <p:cNvPr id="36" name="Picture 35">
            <a:extLst>
              <a:ext uri="{FF2B5EF4-FFF2-40B4-BE49-F238E27FC236}">
                <a16:creationId xmlns:a16="http://schemas.microsoft.com/office/drawing/2014/main" id="{38FA553C-0249-4F79-BC33-3B886C630B2D}"/>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0" y="1260449"/>
            <a:ext cx="9045575" cy="3665885"/>
          </a:xfrm>
          <a:prstGeom prst="rect">
            <a:avLst/>
          </a:prstGeom>
        </p:spPr>
      </p:pic>
      <p:sp>
        <p:nvSpPr>
          <p:cNvPr id="37" name="TextBox 36">
            <a:extLst>
              <a:ext uri="{FF2B5EF4-FFF2-40B4-BE49-F238E27FC236}">
                <a16:creationId xmlns:a16="http://schemas.microsoft.com/office/drawing/2014/main" id="{0433D335-7B4D-40D8-8899-90CAF2D18AED}"/>
              </a:ext>
            </a:extLst>
          </p:cNvPr>
          <p:cNvSpPr txBox="1"/>
          <p:nvPr/>
        </p:nvSpPr>
        <p:spPr>
          <a:xfrm>
            <a:off x="0" y="4857750"/>
            <a:ext cx="9144000" cy="230832"/>
          </a:xfrm>
          <a:prstGeom prst="rect">
            <a:avLst/>
          </a:prstGeom>
          <a:noFill/>
        </p:spPr>
        <p:txBody>
          <a:bodyPr wrap="square" rtlCol="0">
            <a:spAutoFit/>
          </a:bodyPr>
          <a:lstStyle/>
          <a:p>
            <a:r>
              <a:rPr lang="en-IN" sz="900">
                <a:hlinkClick r:id="rId5" tooltip="https://litfl.com/navigating-risks-of-artificial-intelligence-in-healthcare/"/>
              </a:rPr>
              <a:t>This Photo</a:t>
            </a:r>
            <a:r>
              <a:rPr lang="en-IN" sz="900"/>
              <a:t> by Unknown Author is licensed under </a:t>
            </a:r>
            <a:r>
              <a:rPr lang="en-IN" sz="900">
                <a:hlinkClick r:id="rId6" tooltip="https://creativecommons.org/licenses/by-nc-sa/3.0/"/>
              </a:rPr>
              <a:t>CC BY-SA-NC</a:t>
            </a:r>
            <a:endParaRPr lang="en-IN" sz="900"/>
          </a:p>
        </p:txBody>
      </p:sp>
      <p:sp>
        <p:nvSpPr>
          <p:cNvPr id="42" name="TextBox 41">
            <a:extLst>
              <a:ext uri="{FF2B5EF4-FFF2-40B4-BE49-F238E27FC236}">
                <a16:creationId xmlns:a16="http://schemas.microsoft.com/office/drawing/2014/main" id="{AD483D9E-02AC-43DE-A66D-F59DB63D8BAD}"/>
              </a:ext>
            </a:extLst>
          </p:cNvPr>
          <p:cNvSpPr txBox="1"/>
          <p:nvPr/>
        </p:nvSpPr>
        <p:spPr>
          <a:xfrm>
            <a:off x="7400532" y="4408064"/>
            <a:ext cx="1936073" cy="52322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Project presented by:</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S.Yoga</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latin typeface="Times New Roman" panose="02020603050405020304" pitchFamily="18" charset="0"/>
                <a:cs typeface="Times New Roman" panose="02020603050405020304" pitchFamily="18" charset="0"/>
              </a:rPr>
              <a:t>Project Objective &amp; Overview</a:t>
            </a:r>
          </a:p>
        </p:txBody>
      </p:sp>
      <p:sp>
        <p:nvSpPr>
          <p:cNvPr id="3" name="Text Placeholder 2">
            <a:extLst>
              <a:ext uri="{FF2B5EF4-FFF2-40B4-BE49-F238E27FC236}">
                <a16:creationId xmlns:a16="http://schemas.microsoft.com/office/drawing/2014/main" id="{ECF80E3D-802E-4881-A2A1-8E5239E38355}"/>
              </a:ext>
            </a:extLst>
          </p:cNvPr>
          <p:cNvSpPr>
            <a:spLocks noGrp="1"/>
          </p:cNvSpPr>
          <p:nvPr>
            <p:ph type="body" idx="1"/>
          </p:nvPr>
        </p:nvSpPr>
        <p:spPr/>
        <p:txBody>
          <a:bodyPr/>
          <a:lstStyle/>
          <a:p>
            <a:endParaRPr lang="en-IN"/>
          </a:p>
        </p:txBody>
      </p:sp>
      <p:sp>
        <p:nvSpPr>
          <p:cNvPr id="29" name="Text Placeholder 28">
            <a:extLst>
              <a:ext uri="{FF2B5EF4-FFF2-40B4-BE49-F238E27FC236}">
                <a16:creationId xmlns:a16="http://schemas.microsoft.com/office/drawing/2014/main" id="{4995E734-6CA1-47F6-B42B-56B393F5CEA1}"/>
              </a:ext>
            </a:extLst>
          </p:cNvPr>
          <p:cNvSpPr>
            <a:spLocks noGrp="1"/>
          </p:cNvSpPr>
          <p:nvPr>
            <p:ph type="body" idx="2"/>
          </p:nvPr>
        </p:nvSpPr>
        <p:spPr/>
        <p:txBody>
          <a:bodyPr/>
          <a:lstStyle/>
          <a:p>
            <a:endParaRPr lang="en-IN"/>
          </a:p>
        </p:txBody>
      </p:sp>
      <p:sp>
        <p:nvSpPr>
          <p:cNvPr id="4" name="Subtitle 3"/>
          <p:cNvSpPr>
            <a:spLocks noGrp="1"/>
          </p:cNvSpPr>
          <p:nvPr>
            <p:ph type="subTitle" idx="3"/>
          </p:nvPr>
        </p:nvSpPr>
        <p:spPr/>
        <p:txBody>
          <a:bodyPr>
            <a:normAutofit/>
          </a:bodyPr>
          <a:lstStyle/>
          <a:p>
            <a:r>
              <a:rPr b="1" i="1" dirty="0">
                <a:latin typeface="Times New Roman" panose="02020603050405020304" pitchFamily="18" charset="0"/>
                <a:cs typeface="Times New Roman" panose="02020603050405020304" pitchFamily="18" charset="0"/>
              </a:rPr>
              <a:t>Building a Supervised ML App for Health Score Prediction</a:t>
            </a:r>
          </a:p>
        </p:txBody>
      </p:sp>
      <p:sp>
        <p:nvSpPr>
          <p:cNvPr id="30" name="Text Placeholder 29">
            <a:extLst>
              <a:ext uri="{FF2B5EF4-FFF2-40B4-BE49-F238E27FC236}">
                <a16:creationId xmlns:a16="http://schemas.microsoft.com/office/drawing/2014/main" id="{79A47110-4160-44AB-88D2-15989DE19402}"/>
              </a:ext>
            </a:extLst>
          </p:cNvPr>
          <p:cNvSpPr>
            <a:spLocks noGrp="1"/>
          </p:cNvSpPr>
          <p:nvPr>
            <p:ph type="body" idx="4"/>
          </p:nvPr>
        </p:nvSpPr>
        <p:spPr/>
        <p:txBody>
          <a:bodyPr>
            <a:normAutofit fontScale="25000" lnSpcReduction="20000"/>
          </a:bodyPr>
          <a:lstStyle/>
          <a:p>
            <a:endParaRPr lang="en-IN"/>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686800" cy="286464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171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7170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tmpho05mlz4.png"/>
          <p:cNvPicPr>
            <a:picLocks noChangeAspect="1"/>
          </p:cNvPicPr>
          <p:nvPr/>
        </p:nvPicPr>
        <p:blipFill>
          <a:blip r:embed="rId3"/>
          <a:stretch>
            <a:fillRect/>
          </a:stretch>
        </p:blipFill>
        <p:spPr>
          <a:xfrm>
            <a:off x="2171700" y="1508670"/>
            <a:ext cx="304800" cy="304800"/>
          </a:xfrm>
          <a:prstGeom prst="rect">
            <a:avLst/>
          </a:prstGeom>
        </p:spPr>
      </p:pic>
      <p:sp>
        <p:nvSpPr>
          <p:cNvPr id="13" name="TextBox 12"/>
          <p:cNvSpPr txBox="1"/>
          <p:nvPr/>
        </p:nvSpPr>
        <p:spPr>
          <a:xfrm>
            <a:off x="228600" y="1965870"/>
            <a:ext cx="4190999" cy="205680"/>
          </a:xfrm>
          <a:prstGeom prst="rect">
            <a:avLst/>
          </a:prstGeom>
          <a:noFill/>
          <a:ln>
            <a:noFill/>
          </a:ln>
        </p:spPr>
        <p:txBody>
          <a:bodyPr wrap="square" lIns="0" tIns="0" rIns="0" bIns="0" anchor="t">
            <a:spAutoFit/>
          </a:bodyPr>
          <a:lstStyle/>
          <a:p>
            <a:pPr algn="ctr"/>
            <a:r>
              <a:rPr sz="1300" b="1" i="0" dirty="0">
                <a:solidFill>
                  <a:srgbClr val="616161"/>
                </a:solidFill>
                <a:latin typeface="Proxima Nova"/>
              </a:rPr>
              <a:t>Objective</a:t>
            </a:r>
          </a:p>
          <a:p>
            <a:pPr algn="ctr">
              <a:spcAft>
                <a:spcPts val="1200"/>
              </a:spcAft>
            </a:pPr>
            <a:r>
              <a:rPr sz="1300" b="0" i="0" dirty="0">
                <a:solidFill>
                  <a:srgbClr val="616161"/>
                </a:solidFill>
                <a:latin typeface="Proxima Nova"/>
              </a:rPr>
              <a:t>Develop a supervised machine learning model capable of predicting overall health scores as 'Good' or 'Bad' based on biometric and behavioral data.</a:t>
            </a:r>
          </a:p>
        </p:txBody>
      </p:sp>
      <p:sp>
        <p:nvSpPr>
          <p:cNvPr id="14" name="Rectangle 13"/>
          <p:cNvSpPr/>
          <p:nvPr/>
        </p:nvSpPr>
        <p:spPr>
          <a:xfrm>
            <a:off x="47244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675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67500" y="1508670"/>
            <a:ext cx="304800" cy="304800"/>
          </a:xfrm>
          <a:prstGeom prst="rect">
            <a:avLst/>
          </a:prstGeom>
          <a:noFill/>
          <a:ln>
            <a:noFill/>
          </a:ln>
        </p:spPr>
        <p:txBody>
          <a:bodyPr wrap="square" lIns="0" tIns="0" rIns="0" bIns="0" anchor="t">
            <a:spAutoFit/>
          </a:bodyPr>
          <a:lstStyle/>
          <a:p>
            <a:pPr algn="ctr"/>
            <a:endParaRPr/>
          </a:p>
        </p:txBody>
      </p:sp>
      <p:pic>
        <p:nvPicPr>
          <p:cNvPr id="17" name="Picture 16" descr="tmp9g81jm69.png"/>
          <p:cNvPicPr>
            <a:picLocks noChangeAspect="1"/>
          </p:cNvPicPr>
          <p:nvPr/>
        </p:nvPicPr>
        <p:blipFill>
          <a:blip r:embed="rId4"/>
          <a:stretch>
            <a:fillRect/>
          </a:stretch>
        </p:blipFill>
        <p:spPr>
          <a:xfrm>
            <a:off x="6667500" y="1508670"/>
            <a:ext cx="304800" cy="304800"/>
          </a:xfrm>
          <a:prstGeom prst="rect">
            <a:avLst/>
          </a:prstGeom>
        </p:spPr>
      </p:pic>
      <p:sp>
        <p:nvSpPr>
          <p:cNvPr id="18" name="TextBox 17"/>
          <p:cNvSpPr txBox="1"/>
          <p:nvPr/>
        </p:nvSpPr>
        <p:spPr>
          <a:xfrm>
            <a:off x="4724400" y="1965870"/>
            <a:ext cx="4190999"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Approach</a:t>
            </a:r>
          </a:p>
          <a:p>
            <a:pPr algn="ctr">
              <a:spcAft>
                <a:spcPts val="1200"/>
              </a:spcAft>
            </a:pPr>
            <a:r>
              <a:rPr sz="1300" b="0" i="0">
                <a:solidFill>
                  <a:srgbClr val="616161"/>
                </a:solidFill>
                <a:latin typeface="Proxima Nova"/>
              </a:rPr>
              <a:t>Evaluate multiple classification algorithms—Logistic Regression, Random Forest, and Gradient Boosting—to identify the best-performing model for deployment.</a:t>
            </a:r>
          </a:p>
        </p:txBody>
      </p:sp>
      <p:sp>
        <p:nvSpPr>
          <p:cNvPr id="19" name="Rectangle 18"/>
          <p:cNvSpPr/>
          <p:nvPr/>
        </p:nvSpPr>
        <p:spPr>
          <a:xfrm>
            <a:off x="2286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1717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171700" y="3093392"/>
            <a:ext cx="304800" cy="304800"/>
          </a:xfrm>
          <a:prstGeom prst="rect">
            <a:avLst/>
          </a:prstGeom>
          <a:noFill/>
          <a:ln>
            <a:noFill/>
          </a:ln>
        </p:spPr>
        <p:txBody>
          <a:bodyPr wrap="square" lIns="0" tIns="0" rIns="0" bIns="0" anchor="t">
            <a:spAutoFit/>
          </a:bodyPr>
          <a:lstStyle/>
          <a:p>
            <a:pPr algn="ctr"/>
            <a:endParaRPr/>
          </a:p>
        </p:txBody>
      </p:sp>
      <p:pic>
        <p:nvPicPr>
          <p:cNvPr id="22" name="Picture 21" descr="tmpt4ukps0d.png"/>
          <p:cNvPicPr>
            <a:picLocks noChangeAspect="1"/>
          </p:cNvPicPr>
          <p:nvPr/>
        </p:nvPicPr>
        <p:blipFill>
          <a:blip r:embed="rId5"/>
          <a:stretch>
            <a:fillRect/>
          </a:stretch>
        </p:blipFill>
        <p:spPr>
          <a:xfrm>
            <a:off x="2171700" y="3093392"/>
            <a:ext cx="304800" cy="304800"/>
          </a:xfrm>
          <a:prstGeom prst="rect">
            <a:avLst/>
          </a:prstGeom>
        </p:spPr>
      </p:pic>
      <p:sp>
        <p:nvSpPr>
          <p:cNvPr id="23" name="TextBox 22"/>
          <p:cNvSpPr txBox="1"/>
          <p:nvPr/>
        </p:nvSpPr>
        <p:spPr>
          <a:xfrm>
            <a:off x="228600" y="3550592"/>
            <a:ext cx="4190999"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Deployment</a:t>
            </a:r>
          </a:p>
          <a:p>
            <a:pPr algn="ctr">
              <a:spcAft>
                <a:spcPts val="1200"/>
              </a:spcAft>
            </a:pPr>
            <a:r>
              <a:rPr sz="1300" b="0" i="0">
                <a:solidFill>
                  <a:srgbClr val="616161"/>
                </a:solidFill>
                <a:latin typeface="Proxima Nova"/>
              </a:rPr>
              <a:t>Deploy the final model using Streamlit for real-time, interactive predictions with an intuitive user interface accessible to non-experts.</a:t>
            </a:r>
          </a:p>
        </p:txBody>
      </p:sp>
      <p:sp>
        <p:nvSpPr>
          <p:cNvPr id="24" name="Rectangle 23"/>
          <p:cNvSpPr/>
          <p:nvPr/>
        </p:nvSpPr>
        <p:spPr>
          <a:xfrm>
            <a:off x="47244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6675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67500" y="3093392"/>
            <a:ext cx="304800" cy="304800"/>
          </a:xfrm>
          <a:prstGeom prst="rect">
            <a:avLst/>
          </a:prstGeom>
          <a:noFill/>
          <a:ln>
            <a:noFill/>
          </a:ln>
        </p:spPr>
        <p:txBody>
          <a:bodyPr wrap="square" lIns="0" tIns="0" rIns="0" bIns="0" anchor="t">
            <a:spAutoFit/>
          </a:bodyPr>
          <a:lstStyle/>
          <a:p>
            <a:pPr algn="ctr"/>
            <a:endParaRPr/>
          </a:p>
        </p:txBody>
      </p:sp>
      <p:pic>
        <p:nvPicPr>
          <p:cNvPr id="27" name="Picture 26" descr="tmpiwxxv8k1.png"/>
          <p:cNvPicPr>
            <a:picLocks noChangeAspect="1"/>
          </p:cNvPicPr>
          <p:nvPr/>
        </p:nvPicPr>
        <p:blipFill>
          <a:blip r:embed="rId6"/>
          <a:stretch>
            <a:fillRect/>
          </a:stretch>
        </p:blipFill>
        <p:spPr>
          <a:xfrm>
            <a:off x="6667500" y="3093392"/>
            <a:ext cx="304800" cy="304800"/>
          </a:xfrm>
          <a:prstGeom prst="rect">
            <a:avLst/>
          </a:prstGeom>
        </p:spPr>
      </p:pic>
      <p:sp>
        <p:nvSpPr>
          <p:cNvPr id="28" name="TextBox 27"/>
          <p:cNvSpPr txBox="1"/>
          <p:nvPr/>
        </p:nvSpPr>
        <p:spPr>
          <a:xfrm>
            <a:off x="4724400" y="3550592"/>
            <a:ext cx="4190999"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Expected Outcome</a:t>
            </a:r>
          </a:p>
          <a:p>
            <a:pPr algn="ctr">
              <a:spcAft>
                <a:spcPts val="1200"/>
              </a:spcAft>
            </a:pPr>
            <a:r>
              <a:rPr sz="1300" b="0" i="0">
                <a:solidFill>
                  <a:srgbClr val="616161"/>
                </a:solidFill>
                <a:latin typeface="Proxima Nova"/>
              </a:rPr>
              <a:t>Deliver a functional end-to-end ML application that demonstrates data-driven decision-making in healthcare contexts.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latin typeface="Times New Roman" panose="02020603050405020304" pitchFamily="18" charset="0"/>
                <a:cs typeface="Times New Roman" panose="02020603050405020304" pitchFamily="18" charset="0"/>
              </a:rPr>
              <a:t>Input Features &amp; Target Variable</a:t>
            </a:r>
          </a:p>
        </p:txBody>
      </p:sp>
      <p:sp>
        <p:nvSpPr>
          <p:cNvPr id="4" name="Subtitle 3"/>
          <p:cNvSpPr>
            <a:spLocks noGrp="1"/>
          </p:cNvSpPr>
          <p:nvPr>
            <p:ph type="subTitle" idx="3"/>
          </p:nvPr>
        </p:nvSpPr>
        <p:spPr/>
        <p:txBody>
          <a:bodyPr>
            <a:normAutofit/>
          </a:bodyPr>
          <a:lstStyle/>
          <a:p>
            <a:r>
              <a:t>Understanding Predictors and Outputs in Health Score Modeling</a:t>
            </a:r>
          </a:p>
        </p:txBody>
      </p:sp>
      <p:sp>
        <p:nvSpPr>
          <p:cNvPr id="16" name="Text Placeholder 15">
            <a:extLst>
              <a:ext uri="{FF2B5EF4-FFF2-40B4-BE49-F238E27FC236}">
                <a16:creationId xmlns:a16="http://schemas.microsoft.com/office/drawing/2014/main" id="{834DF656-1663-449E-A541-0D254ABC82C9}"/>
              </a:ext>
            </a:extLst>
          </p:cNvPr>
          <p:cNvSpPr>
            <a:spLocks noGrp="1"/>
          </p:cNvSpPr>
          <p:nvPr>
            <p:ph type="body" idx="4"/>
          </p:nvPr>
        </p:nvSpPr>
        <p:spPr/>
        <p:txBody>
          <a:bodyPr>
            <a:normAutofit fontScale="25000" lnSpcReduction="20000"/>
          </a:bodyPr>
          <a:lstStyle/>
          <a:p>
            <a:endParaRPr lang="en-IN"/>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0" i="0">
                <a:solidFill>
                  <a:srgbClr val="616161"/>
                </a:solidFill>
                <a:latin typeface="Proxima Nova"/>
              </a:defRPr>
            </a:pPr>
            <a:endParaRPr/>
          </a:p>
        </p:txBody>
      </p:sp>
      <p:sp>
        <p:nvSpPr>
          <p:cNvPr id="7" name="Rectangle 6"/>
          <p:cNvSpPr/>
          <p:nvPr/>
        </p:nvSpPr>
        <p:spPr>
          <a:xfrm>
            <a:off x="228600" y="1508670"/>
            <a:ext cx="8686800" cy="295007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4190999" cy="295007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57" y="1622565"/>
            <a:ext cx="4683543" cy="2972609"/>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88888"/>
              <a:buFont typeface="Arial"/>
              <a:buChar char="•"/>
            </a:pPr>
            <a:r>
              <a:rPr sz="1200" b="1" i="0" dirty="0">
                <a:solidFill>
                  <a:srgbClr val="616161"/>
                </a:solidFill>
                <a:latin typeface="Proxima Nova"/>
              </a:rPr>
              <a:t>Feature Set:</a:t>
            </a:r>
            <a:r>
              <a:rPr sz="1200" b="0" i="0" dirty="0">
                <a:solidFill>
                  <a:srgbClr val="616161"/>
                </a:solidFill>
                <a:latin typeface="Proxima Nova"/>
              </a:rPr>
              <a:t> Core features include Age, BMI, Blood Pressure, Cholesterol, Activity, Sleep, Stress, and Diet—each quantifying lifestyle and physiological patterns.</a:t>
            </a:r>
          </a:p>
          <a:p>
            <a:pPr marL="228600" lvl="1" indent="-91440" algn="l">
              <a:spcBef>
                <a:spcPts val="1200"/>
              </a:spcBef>
              <a:spcAft>
                <a:spcPts val="0"/>
              </a:spcAft>
              <a:buSzPct val="88888"/>
              <a:buFont typeface="Arial"/>
              <a:buChar char="•"/>
            </a:pPr>
            <a:r>
              <a:rPr sz="1200" b="1" i="0" dirty="0">
                <a:solidFill>
                  <a:srgbClr val="616161"/>
                </a:solidFill>
                <a:latin typeface="Proxima Nova"/>
              </a:rPr>
              <a:t>Feature Influence:</a:t>
            </a:r>
            <a:r>
              <a:rPr sz="1200" b="0" i="0" dirty="0">
                <a:solidFill>
                  <a:srgbClr val="616161"/>
                </a:solidFill>
                <a:latin typeface="Proxima Nova"/>
              </a:rPr>
              <a:t> High BMI, elevated cholesterol, and poor sleep patterns correlate with negative health outcomes, while active lifestyles and balanced diets indicate better scores.</a:t>
            </a:r>
          </a:p>
          <a:p>
            <a:pPr marL="228600" lvl="1" indent="-91440" algn="l">
              <a:spcBef>
                <a:spcPts val="1200"/>
              </a:spcBef>
              <a:spcAft>
                <a:spcPts val="0"/>
              </a:spcAft>
              <a:buSzPct val="88888"/>
              <a:buFont typeface="Arial"/>
              <a:buChar char="•"/>
            </a:pPr>
            <a:r>
              <a:rPr sz="1200" b="1" i="0" dirty="0">
                <a:solidFill>
                  <a:srgbClr val="616161"/>
                </a:solidFill>
                <a:latin typeface="Proxima Nova"/>
              </a:rPr>
              <a:t>Target Variable:</a:t>
            </a:r>
            <a:r>
              <a:rPr sz="1200" b="0" i="0" dirty="0">
                <a:solidFill>
                  <a:srgbClr val="616161"/>
                </a:solidFill>
                <a:latin typeface="Proxima Nova"/>
              </a:rPr>
              <a:t> The binary target, Health Score (Good / Bad), reflects overall wellness and is determined from the interplay of input metrics.</a:t>
            </a:r>
          </a:p>
          <a:p>
            <a:pPr marL="228600" lvl="1" indent="-91440" algn="l">
              <a:spcBef>
                <a:spcPts val="1200"/>
              </a:spcBef>
              <a:spcAft>
                <a:spcPts val="0"/>
              </a:spcAft>
              <a:buSzPct val="88888"/>
              <a:buFont typeface="Arial"/>
              <a:buChar char="•"/>
            </a:pPr>
            <a:r>
              <a:rPr sz="1200" b="1" i="0" dirty="0">
                <a:solidFill>
                  <a:srgbClr val="616161"/>
                </a:solidFill>
                <a:latin typeface="Proxima Nova"/>
              </a:rPr>
              <a:t>Feature-Outcome Relationship:</a:t>
            </a:r>
            <a:r>
              <a:rPr sz="1200" b="0" i="0" dirty="0">
                <a:solidFill>
                  <a:srgbClr val="616161"/>
                </a:solidFill>
                <a:latin typeface="Proxima Nova"/>
              </a:rPr>
              <a:t> Feature engineering ensures meaningful correlations by transforming raw data into standardized numerical inputs for ML algorithms.</a:t>
            </a:r>
          </a:p>
        </p:txBody>
      </p:sp>
      <p:sp>
        <p:nvSpPr>
          <p:cNvPr id="10" name="Rectangle 9"/>
          <p:cNvSpPr/>
          <p:nvPr/>
        </p:nvSpPr>
        <p:spPr>
          <a:xfrm>
            <a:off x="4724400" y="1508670"/>
            <a:ext cx="4190999" cy="295007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endParaRPr/>
          </a:p>
        </p:txBody>
      </p:sp>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a:extLst>
              <a:ext uri="{FF2B5EF4-FFF2-40B4-BE49-F238E27FC236}">
                <a16:creationId xmlns:a16="http://schemas.microsoft.com/office/drawing/2014/main" id="{E2498E0A-C309-46F0-8015-7127BB16848F}"/>
              </a:ext>
            </a:extLst>
          </p:cNvPr>
          <p:cNvPicPr>
            <a:picLocks noChangeAspect="1"/>
          </p:cNvPicPr>
          <p:nvPr/>
        </p:nvPicPr>
        <p:blipFill rotWithShape="1">
          <a:blip r:embed="rId3"/>
          <a:srcRect t="638" b="7310"/>
          <a:stretch/>
        </p:blipFill>
        <p:spPr>
          <a:xfrm>
            <a:off x="4724399" y="1576886"/>
            <a:ext cx="4419601" cy="29500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latin typeface="Times New Roman" panose="02020603050405020304" pitchFamily="18" charset="0"/>
                <a:cs typeface="Times New Roman" panose="02020603050405020304" pitchFamily="18" charset="0"/>
              </a:rPr>
              <a:t>Model Training</a:t>
            </a:r>
          </a:p>
        </p:txBody>
      </p:sp>
      <p:sp>
        <p:nvSpPr>
          <p:cNvPr id="4" name="Subtitle 3"/>
          <p:cNvSpPr>
            <a:spLocks noGrp="1"/>
          </p:cNvSpPr>
          <p:nvPr>
            <p:ph type="subTitle" idx="13"/>
          </p:nvPr>
        </p:nvSpPr>
        <p:spPr/>
        <p:txBody>
          <a:bodyPr>
            <a:normAutofit/>
          </a:bodyPr>
          <a:lstStyle/>
          <a:p>
            <a:r>
              <a:t>Building and Optimizing Predictive Models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686800" cy="265896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171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7170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tmpgjixy9t9.png"/>
          <p:cNvPicPr>
            <a:picLocks noChangeAspect="1"/>
          </p:cNvPicPr>
          <p:nvPr/>
        </p:nvPicPr>
        <p:blipFill>
          <a:blip r:embed="rId3"/>
          <a:stretch>
            <a:fillRect/>
          </a:stretch>
        </p:blipFill>
        <p:spPr>
          <a:xfrm>
            <a:off x="2171700" y="1508670"/>
            <a:ext cx="304800" cy="304800"/>
          </a:xfrm>
          <a:prstGeom prst="rect">
            <a:avLst/>
          </a:prstGeom>
        </p:spPr>
      </p:pic>
      <p:sp>
        <p:nvSpPr>
          <p:cNvPr id="13" name="TextBox 12"/>
          <p:cNvSpPr txBox="1"/>
          <p:nvPr/>
        </p:nvSpPr>
        <p:spPr>
          <a:xfrm>
            <a:off x="228600" y="1965870"/>
            <a:ext cx="4190999"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Training Setup</a:t>
            </a:r>
          </a:p>
          <a:p>
            <a:pPr algn="ctr">
              <a:spcAft>
                <a:spcPts val="1200"/>
              </a:spcAft>
            </a:pPr>
            <a:r>
              <a:rPr sz="1300" b="0" i="0">
                <a:solidFill>
                  <a:srgbClr val="616161"/>
                </a:solidFill>
                <a:latin typeface="Proxima Nova"/>
              </a:rPr>
              <a:t>Data split into training and testing sets to ensure model generalization and avoid overfitting.</a:t>
            </a:r>
          </a:p>
        </p:txBody>
      </p:sp>
      <p:sp>
        <p:nvSpPr>
          <p:cNvPr id="14" name="Rectangle 13"/>
          <p:cNvSpPr/>
          <p:nvPr/>
        </p:nvSpPr>
        <p:spPr>
          <a:xfrm>
            <a:off x="47244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675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67500" y="1508670"/>
            <a:ext cx="304800" cy="304800"/>
          </a:xfrm>
          <a:prstGeom prst="rect">
            <a:avLst/>
          </a:prstGeom>
          <a:noFill/>
          <a:ln>
            <a:noFill/>
          </a:ln>
        </p:spPr>
        <p:txBody>
          <a:bodyPr wrap="square" lIns="0" tIns="0" rIns="0" bIns="0" anchor="t">
            <a:spAutoFit/>
          </a:bodyPr>
          <a:lstStyle/>
          <a:p>
            <a:pPr algn="ctr"/>
            <a:endParaRPr/>
          </a:p>
        </p:txBody>
      </p:sp>
      <p:pic>
        <p:nvPicPr>
          <p:cNvPr id="17" name="Picture 16" descr="tmp9g81jm69.png"/>
          <p:cNvPicPr>
            <a:picLocks noChangeAspect="1"/>
          </p:cNvPicPr>
          <p:nvPr/>
        </p:nvPicPr>
        <p:blipFill>
          <a:blip r:embed="rId4"/>
          <a:stretch>
            <a:fillRect/>
          </a:stretch>
        </p:blipFill>
        <p:spPr>
          <a:xfrm>
            <a:off x="6667500" y="1508670"/>
            <a:ext cx="304800" cy="304800"/>
          </a:xfrm>
          <a:prstGeom prst="rect">
            <a:avLst/>
          </a:prstGeom>
        </p:spPr>
      </p:pic>
      <p:sp>
        <p:nvSpPr>
          <p:cNvPr id="18" name="TextBox 17"/>
          <p:cNvSpPr txBox="1"/>
          <p:nvPr/>
        </p:nvSpPr>
        <p:spPr>
          <a:xfrm>
            <a:off x="4724400" y="1965870"/>
            <a:ext cx="4190999"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Algorithm Selection</a:t>
            </a:r>
          </a:p>
          <a:p>
            <a:pPr algn="ctr">
              <a:spcAft>
                <a:spcPts val="1200"/>
              </a:spcAft>
            </a:pPr>
            <a:r>
              <a:rPr sz="1300" b="0" i="0">
                <a:solidFill>
                  <a:srgbClr val="616161"/>
                </a:solidFill>
                <a:latin typeface="Proxima Nova"/>
              </a:rPr>
              <a:t>Implemented Logistic Regression, Random Forest, and Gradient Boosting as comparative supervised learning models.</a:t>
            </a:r>
          </a:p>
        </p:txBody>
      </p:sp>
      <p:sp>
        <p:nvSpPr>
          <p:cNvPr id="19" name="Rectangle 18"/>
          <p:cNvSpPr/>
          <p:nvPr/>
        </p:nvSpPr>
        <p:spPr>
          <a:xfrm>
            <a:off x="228600" y="3093392"/>
            <a:ext cx="4190999" cy="107424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1717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171700" y="3093392"/>
            <a:ext cx="304800" cy="304800"/>
          </a:xfrm>
          <a:prstGeom prst="rect">
            <a:avLst/>
          </a:prstGeom>
          <a:noFill/>
          <a:ln>
            <a:noFill/>
          </a:ln>
        </p:spPr>
        <p:txBody>
          <a:bodyPr wrap="square" lIns="0" tIns="0" rIns="0" bIns="0" anchor="t">
            <a:spAutoFit/>
          </a:bodyPr>
          <a:lstStyle/>
          <a:p>
            <a:pPr algn="ctr"/>
            <a:endParaRPr/>
          </a:p>
        </p:txBody>
      </p:sp>
      <p:pic>
        <p:nvPicPr>
          <p:cNvPr id="22" name="Picture 21" descr="tmph501p6v6.png"/>
          <p:cNvPicPr>
            <a:picLocks noChangeAspect="1"/>
          </p:cNvPicPr>
          <p:nvPr/>
        </p:nvPicPr>
        <p:blipFill>
          <a:blip r:embed="rId5"/>
          <a:stretch>
            <a:fillRect/>
          </a:stretch>
        </p:blipFill>
        <p:spPr>
          <a:xfrm>
            <a:off x="2171700" y="3093392"/>
            <a:ext cx="304800" cy="304800"/>
          </a:xfrm>
          <a:prstGeom prst="rect">
            <a:avLst/>
          </a:prstGeom>
        </p:spPr>
      </p:pic>
      <p:sp>
        <p:nvSpPr>
          <p:cNvPr id="23" name="TextBox 22"/>
          <p:cNvSpPr txBox="1"/>
          <p:nvPr/>
        </p:nvSpPr>
        <p:spPr>
          <a:xfrm>
            <a:off x="228600" y="3550592"/>
            <a:ext cx="4190999"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Hyperparameter Tuning</a:t>
            </a:r>
          </a:p>
          <a:p>
            <a:pPr algn="ctr">
              <a:spcAft>
                <a:spcPts val="1200"/>
              </a:spcAft>
            </a:pPr>
            <a:r>
              <a:rPr sz="1300" b="0" i="0">
                <a:solidFill>
                  <a:srgbClr val="616161"/>
                </a:solidFill>
                <a:latin typeface="Proxima Nova"/>
              </a:rPr>
              <a:t>Optimized parameters such as learning rate and regularization strength to maximize accuracy.</a:t>
            </a:r>
          </a:p>
        </p:txBody>
      </p:sp>
      <p:sp>
        <p:nvSpPr>
          <p:cNvPr id="24" name="Rectangle 23"/>
          <p:cNvSpPr/>
          <p:nvPr/>
        </p:nvSpPr>
        <p:spPr>
          <a:xfrm>
            <a:off x="4724400" y="3093392"/>
            <a:ext cx="4190999" cy="107424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6675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67500" y="3093392"/>
            <a:ext cx="304800" cy="304800"/>
          </a:xfrm>
          <a:prstGeom prst="rect">
            <a:avLst/>
          </a:prstGeom>
          <a:noFill/>
          <a:ln>
            <a:noFill/>
          </a:ln>
        </p:spPr>
        <p:txBody>
          <a:bodyPr wrap="square" lIns="0" tIns="0" rIns="0" bIns="0" anchor="t">
            <a:spAutoFit/>
          </a:bodyPr>
          <a:lstStyle/>
          <a:p>
            <a:pPr algn="ctr"/>
            <a:endParaRPr/>
          </a:p>
        </p:txBody>
      </p:sp>
      <p:pic>
        <p:nvPicPr>
          <p:cNvPr id="27" name="Picture 26" descr="tmpq8n52yb5.png"/>
          <p:cNvPicPr>
            <a:picLocks noChangeAspect="1"/>
          </p:cNvPicPr>
          <p:nvPr/>
        </p:nvPicPr>
        <p:blipFill>
          <a:blip r:embed="rId6"/>
          <a:stretch>
            <a:fillRect/>
          </a:stretch>
        </p:blipFill>
        <p:spPr>
          <a:xfrm>
            <a:off x="6667500" y="3093392"/>
            <a:ext cx="304800" cy="304800"/>
          </a:xfrm>
          <a:prstGeom prst="rect">
            <a:avLst/>
          </a:prstGeom>
        </p:spPr>
      </p:pic>
      <p:sp>
        <p:nvSpPr>
          <p:cNvPr id="28" name="TextBox 27"/>
          <p:cNvSpPr txBox="1"/>
          <p:nvPr/>
        </p:nvSpPr>
        <p:spPr>
          <a:xfrm>
            <a:off x="4724400" y="3550592"/>
            <a:ext cx="4190999"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Evaluation Metric</a:t>
            </a:r>
          </a:p>
          <a:p>
            <a:pPr algn="ctr">
              <a:spcAft>
                <a:spcPts val="1200"/>
              </a:spcAft>
            </a:pPr>
            <a:r>
              <a:rPr sz="1300" b="0" i="0">
                <a:solidFill>
                  <a:srgbClr val="616161"/>
                </a:solidFill>
                <a:latin typeface="Proxima Nova"/>
              </a:rPr>
              <a:t>Accuracy was selected as the key metric, balancing interpretability and relevance for balanced datasets.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latin typeface="Times New Roman" panose="02020603050405020304" pitchFamily="18" charset="0"/>
                <a:cs typeface="Times New Roman" panose="02020603050405020304" pitchFamily="18" charset="0"/>
              </a:rPr>
              <a:t>Model Evaluation</a:t>
            </a:r>
          </a:p>
        </p:txBody>
      </p:sp>
      <p:sp>
        <p:nvSpPr>
          <p:cNvPr id="4" name="Subtitle 3"/>
          <p:cNvSpPr>
            <a:spLocks noGrp="1"/>
          </p:cNvSpPr>
          <p:nvPr>
            <p:ph type="subTitle" idx="13"/>
          </p:nvPr>
        </p:nvSpPr>
        <p:spPr/>
        <p:txBody>
          <a:bodyPr>
            <a:normAutofit/>
          </a:bodyPr>
          <a:lstStyle/>
          <a:p>
            <a:r>
              <a:t>Comparing Accuracy and Performance Across Algorithms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11586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4190999" cy="311586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1508670"/>
            <a:ext cx="4190999" cy="3157275"/>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300" b="1" i="0" dirty="0">
                <a:solidFill>
                  <a:srgbClr val="616161"/>
                </a:solidFill>
                <a:latin typeface="Proxima Nova"/>
              </a:rPr>
              <a:t>Model Results:</a:t>
            </a:r>
            <a:r>
              <a:rPr sz="1300" b="0" i="0" dirty="0">
                <a:solidFill>
                  <a:srgbClr val="616161"/>
                </a:solidFill>
                <a:latin typeface="Proxima Nova"/>
              </a:rPr>
              <a:t> Logistic Regression achieved </a:t>
            </a:r>
            <a:r>
              <a:rPr lang="en-US" sz="1300" dirty="0">
                <a:solidFill>
                  <a:srgbClr val="616161"/>
                </a:solidFill>
                <a:latin typeface="Proxima Nova"/>
              </a:rPr>
              <a:t>82</a:t>
            </a:r>
            <a:r>
              <a:rPr sz="1300" b="0" i="0" dirty="0">
                <a:solidFill>
                  <a:srgbClr val="616161"/>
                </a:solidFill>
                <a:latin typeface="Proxima Nova"/>
              </a:rPr>
              <a:t>% accuracy, outperforming Random Forest (</a:t>
            </a:r>
            <a:r>
              <a:rPr lang="en-US" sz="1300" dirty="0">
                <a:solidFill>
                  <a:srgbClr val="616161"/>
                </a:solidFill>
                <a:latin typeface="Proxima Nova"/>
              </a:rPr>
              <a:t>75</a:t>
            </a:r>
            <a:r>
              <a:rPr sz="1300" b="0" i="0" dirty="0">
                <a:solidFill>
                  <a:srgbClr val="616161"/>
                </a:solidFill>
                <a:latin typeface="Proxima Nova"/>
              </a:rPr>
              <a:t>%) and Gradient Boosting (</a:t>
            </a:r>
            <a:r>
              <a:rPr lang="en-US" sz="1300" dirty="0">
                <a:solidFill>
                  <a:srgbClr val="616161"/>
                </a:solidFill>
                <a:latin typeface="Proxima Nova"/>
              </a:rPr>
              <a:t>72</a:t>
            </a:r>
            <a:r>
              <a:rPr sz="1300" b="0" i="0" dirty="0">
                <a:solidFill>
                  <a:srgbClr val="616161"/>
                </a:solidFill>
                <a:latin typeface="Proxima Nova"/>
              </a:rPr>
              <a:t>%).</a:t>
            </a:r>
          </a:p>
          <a:p>
            <a:pPr marL="228600" lvl="1" indent="-91440" algn="l">
              <a:spcBef>
                <a:spcPts val="1200"/>
              </a:spcBef>
              <a:spcAft>
                <a:spcPts val="0"/>
              </a:spcAft>
              <a:buSzPct val="100000"/>
              <a:buFont typeface="Arial"/>
              <a:buChar char="•"/>
            </a:pPr>
            <a:r>
              <a:rPr sz="1300" b="1" i="0" dirty="0">
                <a:solidFill>
                  <a:srgbClr val="616161"/>
                </a:solidFill>
                <a:latin typeface="Proxima Nova"/>
              </a:rPr>
              <a:t>Performance Insights:</a:t>
            </a:r>
            <a:r>
              <a:rPr sz="1300" b="0" i="0" dirty="0">
                <a:solidFill>
                  <a:srgbClr val="616161"/>
                </a:solidFill>
                <a:latin typeface="Proxima Nova"/>
              </a:rPr>
              <a:t> Logistic Regression demonstrated superior generalization and stability across multiple test runs.</a:t>
            </a:r>
          </a:p>
          <a:p>
            <a:pPr marL="228600" lvl="1" indent="-91440" algn="l">
              <a:spcBef>
                <a:spcPts val="1200"/>
              </a:spcBef>
              <a:spcAft>
                <a:spcPts val="0"/>
              </a:spcAft>
              <a:buSzPct val="100000"/>
              <a:buFont typeface="Arial"/>
              <a:buChar char="•"/>
            </a:pPr>
            <a:r>
              <a:rPr sz="1300" b="1" i="0" dirty="0">
                <a:solidFill>
                  <a:srgbClr val="616161"/>
                </a:solidFill>
                <a:latin typeface="Proxima Nova"/>
              </a:rPr>
              <a:t>ROC Analysis:</a:t>
            </a:r>
            <a:r>
              <a:rPr sz="1300" b="0" i="0" dirty="0">
                <a:solidFill>
                  <a:srgbClr val="616161"/>
                </a:solidFill>
                <a:latin typeface="Proxima Nova"/>
              </a:rPr>
              <a:t> Receiver Operating Characteristic curve indicated strong class separation and minimal false positives.</a:t>
            </a:r>
          </a:p>
          <a:p>
            <a:pPr marL="228600" lvl="1" indent="-91440" algn="l">
              <a:spcBef>
                <a:spcPts val="1200"/>
              </a:spcBef>
              <a:spcAft>
                <a:spcPts val="0"/>
              </a:spcAft>
              <a:buSzPct val="100000"/>
              <a:buFont typeface="Arial"/>
              <a:buChar char="•"/>
            </a:pPr>
            <a:r>
              <a:rPr sz="1300" b="1" i="0" dirty="0">
                <a:solidFill>
                  <a:srgbClr val="616161"/>
                </a:solidFill>
                <a:latin typeface="Proxima Nova"/>
              </a:rPr>
              <a:t>Model Selection Criteria:</a:t>
            </a:r>
            <a:r>
              <a:rPr sz="1300" b="0" i="0" dirty="0">
                <a:solidFill>
                  <a:srgbClr val="616161"/>
                </a:solidFill>
                <a:latin typeface="Proxima Nova"/>
              </a:rPr>
              <a:t> Selected model balances simplicity, speed, and interpretability—critical for healthcare use cases.</a:t>
            </a:r>
          </a:p>
        </p:txBody>
      </p:sp>
      <p:sp>
        <p:nvSpPr>
          <p:cNvPr id="10" name="Rectangle 9"/>
          <p:cNvSpPr/>
          <p:nvPr/>
        </p:nvSpPr>
        <p:spPr>
          <a:xfrm>
            <a:off x="4724400" y="1508670"/>
            <a:ext cx="4190999" cy="311586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endParaRPr/>
          </a:p>
        </p:txBody>
      </p:sp>
      <p:pic>
        <p:nvPicPr>
          <p:cNvPr id="12" name="Picture 11"/>
          <p:cNvPicPr>
            <a:picLocks noChangeAspect="1"/>
          </p:cNvPicPr>
          <p:nvPr/>
        </p:nvPicPr>
        <p:blipFill rotWithShape="1">
          <a:blip r:embed="rId3"/>
          <a:srcRect l="22495" t="12558" b="5766"/>
          <a:stretch/>
        </p:blipFill>
        <p:spPr>
          <a:xfrm>
            <a:off x="4589720" y="1424134"/>
            <a:ext cx="4190999" cy="2751535"/>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latin typeface="Times New Roman" panose="02020603050405020304" pitchFamily="18" charset="0"/>
                <a:cs typeface="Times New Roman" panose="02020603050405020304" pitchFamily="18" charset="0"/>
              </a:rPr>
              <a:t>Best Model – Logistic Regression</a:t>
            </a:r>
          </a:p>
        </p:txBody>
      </p:sp>
      <p:sp>
        <p:nvSpPr>
          <p:cNvPr id="4" name="Subtitle 3"/>
          <p:cNvSpPr>
            <a:spLocks noGrp="1"/>
          </p:cNvSpPr>
          <p:nvPr>
            <p:ph type="subTitle" idx="13"/>
          </p:nvPr>
        </p:nvSpPr>
        <p:spPr/>
        <p:txBody>
          <a:bodyPr>
            <a:normAutofit/>
          </a:bodyPr>
          <a:lstStyle/>
          <a:p>
            <a:r>
              <a:t>Final Model Selection and Justification</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11586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4190999" cy="311586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1508670"/>
            <a:ext cx="4190999" cy="3115865"/>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300" b="1" i="0">
                <a:solidFill>
                  <a:srgbClr val="616161"/>
                </a:solidFill>
                <a:latin typeface="Proxima Nova"/>
              </a:rPr>
              <a:t>Top Performer:</a:t>
            </a:r>
            <a:r>
              <a:rPr sz="1300" b="0" i="0">
                <a:solidFill>
                  <a:srgbClr val="616161"/>
                </a:solidFill>
                <a:latin typeface="Proxima Nova"/>
              </a:rPr>
              <a:t> Logistic Regression achieved the best trade-off between accuracy, interpretability, and computational efficiency.</a:t>
            </a:r>
          </a:p>
          <a:p>
            <a:pPr marL="228600" lvl="1" indent="-91440" algn="l">
              <a:spcBef>
                <a:spcPts val="1200"/>
              </a:spcBef>
              <a:spcAft>
                <a:spcPts val="0"/>
              </a:spcAft>
              <a:buSzPct val="100000"/>
              <a:buFont typeface="Arial"/>
              <a:buChar char="•"/>
            </a:pPr>
            <a:r>
              <a:rPr sz="1300" b="1" i="0">
                <a:solidFill>
                  <a:srgbClr val="616161"/>
                </a:solidFill>
                <a:latin typeface="Proxima Nova"/>
              </a:rPr>
              <a:t>Model Stability:</a:t>
            </a:r>
            <a:r>
              <a:rPr sz="1300" b="0" i="0">
                <a:solidFill>
                  <a:srgbClr val="616161"/>
                </a:solidFill>
                <a:latin typeface="Proxima Nova"/>
              </a:rPr>
              <a:t> Consistently high performance across cross-validation folds confirmed robustness against random data variation.</a:t>
            </a:r>
          </a:p>
          <a:p>
            <a:pPr marL="228600" lvl="1" indent="-91440" algn="l">
              <a:spcBef>
                <a:spcPts val="1200"/>
              </a:spcBef>
              <a:spcAft>
                <a:spcPts val="0"/>
              </a:spcAft>
              <a:buSzPct val="100000"/>
              <a:buFont typeface="Arial"/>
              <a:buChar char="•"/>
            </a:pPr>
            <a:r>
              <a:rPr sz="1300" b="1" i="0">
                <a:solidFill>
                  <a:srgbClr val="616161"/>
                </a:solidFill>
                <a:latin typeface="Proxima Nova"/>
              </a:rPr>
              <a:t>Interpretability Advantage:</a:t>
            </a:r>
            <a:r>
              <a:rPr sz="1300" b="0" i="0">
                <a:solidFill>
                  <a:srgbClr val="616161"/>
                </a:solidFill>
                <a:latin typeface="Proxima Nova"/>
              </a:rPr>
              <a:t> Coefficients directly show how each feature influences prediction—crucial for explaining results in healthcare.</a:t>
            </a:r>
          </a:p>
          <a:p>
            <a:pPr marL="228600" lvl="1" indent="-91440" algn="l">
              <a:spcBef>
                <a:spcPts val="1200"/>
              </a:spcBef>
              <a:spcAft>
                <a:spcPts val="0"/>
              </a:spcAft>
              <a:buSzPct val="100000"/>
              <a:buFont typeface="Arial"/>
              <a:buChar char="•"/>
            </a:pPr>
            <a:r>
              <a:rPr sz="1300" b="1" i="0">
                <a:solidFill>
                  <a:srgbClr val="616161"/>
                </a:solidFill>
                <a:latin typeface="Proxima Nova"/>
              </a:rPr>
              <a:t>Deployment Choice:</a:t>
            </a:r>
            <a:r>
              <a:rPr sz="1300" b="0" i="0">
                <a:solidFill>
                  <a:srgbClr val="616161"/>
                </a:solidFill>
                <a:latin typeface="Proxima Nova"/>
              </a:rPr>
              <a:t> Selected as final model for Streamlit deployment due to simplicity, transparency, and excellent accuracy.</a:t>
            </a:r>
          </a:p>
        </p:txBody>
      </p:sp>
      <p:sp>
        <p:nvSpPr>
          <p:cNvPr id="10" name="Rectangle 9"/>
          <p:cNvSpPr/>
          <p:nvPr/>
        </p:nvSpPr>
        <p:spPr>
          <a:xfrm>
            <a:off x="4724400" y="1508670"/>
            <a:ext cx="4190999" cy="311586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endParaRPr/>
          </a:p>
        </p:txBody>
      </p:sp>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52" name="Picture 4">
            <a:extLst>
              <a:ext uri="{FF2B5EF4-FFF2-40B4-BE49-F238E27FC236}">
                <a16:creationId xmlns:a16="http://schemas.microsoft.com/office/drawing/2014/main" id="{50DD0163-1D7F-42BE-A0C7-D64172122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599" y="84504"/>
            <a:ext cx="4412699" cy="49744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err="1">
                <a:latin typeface="Times New Roman" panose="02020603050405020304" pitchFamily="18" charset="0"/>
                <a:cs typeface="Times New Roman" panose="02020603050405020304" pitchFamily="18" charset="0"/>
              </a:rPr>
              <a:t>Streamlit</a:t>
            </a:r>
            <a:r>
              <a:rPr dirty="0">
                <a:latin typeface="Times New Roman" panose="02020603050405020304" pitchFamily="18" charset="0"/>
                <a:cs typeface="Times New Roman" panose="02020603050405020304" pitchFamily="18" charset="0"/>
              </a:rPr>
              <a:t> App Deployment</a:t>
            </a:r>
          </a:p>
        </p:txBody>
      </p:sp>
      <p:sp>
        <p:nvSpPr>
          <p:cNvPr id="4" name="Subtitle 3"/>
          <p:cNvSpPr>
            <a:spLocks noGrp="1"/>
          </p:cNvSpPr>
          <p:nvPr>
            <p:ph type="subTitle" idx="3"/>
          </p:nvPr>
        </p:nvSpPr>
        <p:spPr>
          <a:xfrm>
            <a:off x="3477128" y="219201"/>
            <a:ext cx="3904173" cy="373643"/>
          </a:xfrm>
        </p:spPr>
        <p:txBody>
          <a:bodyPr>
            <a:normAutofit fontScale="92500" lnSpcReduction="20000"/>
          </a:bodyPr>
          <a:lstStyle/>
          <a:p>
            <a:r>
              <a:rPr b="1" i="1" dirty="0"/>
              <a:t>From Model to Interactive Web Application</a:t>
            </a:r>
          </a:p>
        </p:txBody>
      </p:sp>
      <p:sp>
        <p:nvSpPr>
          <p:cNvPr id="9" name="Rectangle 8"/>
          <p:cNvSpPr/>
          <p:nvPr/>
        </p:nvSpPr>
        <p:spPr>
          <a:xfrm>
            <a:off x="2286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171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7170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tmp61lu1_dk.png"/>
          <p:cNvPicPr>
            <a:picLocks noChangeAspect="1"/>
          </p:cNvPicPr>
          <p:nvPr/>
        </p:nvPicPr>
        <p:blipFill>
          <a:blip r:embed="rId3"/>
          <a:stretch>
            <a:fillRect/>
          </a:stretch>
        </p:blipFill>
        <p:spPr>
          <a:xfrm>
            <a:off x="759777" y="835170"/>
            <a:ext cx="304800" cy="304800"/>
          </a:xfrm>
          <a:prstGeom prst="rect">
            <a:avLst/>
          </a:prstGeom>
        </p:spPr>
      </p:pic>
      <p:sp>
        <p:nvSpPr>
          <p:cNvPr id="13" name="TextBox 12"/>
          <p:cNvSpPr txBox="1"/>
          <p:nvPr/>
        </p:nvSpPr>
        <p:spPr>
          <a:xfrm>
            <a:off x="121186" y="871929"/>
            <a:ext cx="3852703" cy="800219"/>
          </a:xfrm>
          <a:prstGeom prst="rect">
            <a:avLst/>
          </a:prstGeom>
          <a:noFill/>
          <a:ln>
            <a:noFill/>
          </a:ln>
        </p:spPr>
        <p:txBody>
          <a:bodyPr wrap="square" lIns="0" tIns="0" rIns="0" bIns="0" anchor="t">
            <a:spAutoFit/>
          </a:bodyPr>
          <a:lstStyle/>
          <a:p>
            <a:pPr algn="ctr"/>
            <a:r>
              <a:rPr sz="1300" b="1" i="0" dirty="0">
                <a:solidFill>
                  <a:srgbClr val="616161"/>
                </a:solidFill>
                <a:latin typeface="Proxima Nova"/>
              </a:rPr>
              <a:t>User Interaction</a:t>
            </a:r>
          </a:p>
          <a:p>
            <a:pPr algn="ctr">
              <a:spcAft>
                <a:spcPts val="1200"/>
              </a:spcAft>
            </a:pPr>
            <a:r>
              <a:rPr sz="1300" b="0" i="0" dirty="0" err="1">
                <a:solidFill>
                  <a:srgbClr val="616161"/>
                </a:solidFill>
                <a:latin typeface="Proxima Nova"/>
              </a:rPr>
              <a:t>Streamlit</a:t>
            </a:r>
            <a:r>
              <a:rPr sz="1300" b="0" i="0" dirty="0">
                <a:solidFill>
                  <a:srgbClr val="616161"/>
                </a:solidFill>
                <a:latin typeface="Proxima Nova"/>
              </a:rPr>
              <a:t> interface allows users to input metrics like BMI, sleep, and cholesterol to receive instant predictions.</a:t>
            </a:r>
          </a:p>
        </p:txBody>
      </p:sp>
      <p:sp>
        <p:nvSpPr>
          <p:cNvPr id="15" name="Rectangle 14"/>
          <p:cNvSpPr/>
          <p:nvPr/>
        </p:nvSpPr>
        <p:spPr>
          <a:xfrm>
            <a:off x="66675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67500" y="1508670"/>
            <a:ext cx="304800" cy="304800"/>
          </a:xfrm>
          <a:prstGeom prst="rect">
            <a:avLst/>
          </a:prstGeom>
          <a:noFill/>
          <a:ln>
            <a:noFill/>
          </a:ln>
        </p:spPr>
        <p:txBody>
          <a:bodyPr wrap="square" lIns="0" tIns="0" rIns="0" bIns="0" anchor="t">
            <a:spAutoFit/>
          </a:bodyPr>
          <a:lstStyle/>
          <a:p>
            <a:pPr algn="ctr"/>
            <a:endParaRPr/>
          </a:p>
        </p:txBody>
      </p:sp>
      <p:pic>
        <p:nvPicPr>
          <p:cNvPr id="17" name="Picture 16" descr="tmp3l3sl3no.png"/>
          <p:cNvPicPr>
            <a:picLocks noChangeAspect="1"/>
          </p:cNvPicPr>
          <p:nvPr/>
        </p:nvPicPr>
        <p:blipFill>
          <a:blip r:embed="rId4"/>
          <a:stretch>
            <a:fillRect/>
          </a:stretch>
        </p:blipFill>
        <p:spPr>
          <a:xfrm>
            <a:off x="799214" y="1633340"/>
            <a:ext cx="304800" cy="304800"/>
          </a:xfrm>
          <a:prstGeom prst="rect">
            <a:avLst/>
          </a:prstGeom>
        </p:spPr>
      </p:pic>
      <p:sp>
        <p:nvSpPr>
          <p:cNvPr id="18" name="TextBox 17"/>
          <p:cNvSpPr txBox="1"/>
          <p:nvPr/>
        </p:nvSpPr>
        <p:spPr>
          <a:xfrm>
            <a:off x="-47963" y="1780548"/>
            <a:ext cx="4190999" cy="205680"/>
          </a:xfrm>
          <a:prstGeom prst="rect">
            <a:avLst/>
          </a:prstGeom>
          <a:noFill/>
          <a:ln>
            <a:noFill/>
          </a:ln>
        </p:spPr>
        <p:txBody>
          <a:bodyPr wrap="square" lIns="0" tIns="0" rIns="0" bIns="0" anchor="t">
            <a:spAutoFit/>
          </a:bodyPr>
          <a:lstStyle/>
          <a:p>
            <a:pPr algn="ctr"/>
            <a:r>
              <a:rPr sz="1300" b="1" i="0" dirty="0">
                <a:solidFill>
                  <a:srgbClr val="616161"/>
                </a:solidFill>
                <a:latin typeface="Proxima Nova"/>
              </a:rPr>
              <a:t>Backend Integration</a:t>
            </a:r>
          </a:p>
          <a:p>
            <a:pPr algn="ctr">
              <a:spcAft>
                <a:spcPts val="1200"/>
              </a:spcAft>
            </a:pPr>
            <a:r>
              <a:rPr sz="1300" b="0" i="0" dirty="0">
                <a:solidFill>
                  <a:srgbClr val="616161"/>
                </a:solidFill>
                <a:latin typeface="Proxima Nova"/>
              </a:rPr>
              <a:t>Model and </a:t>
            </a:r>
            <a:r>
              <a:rPr sz="1300" b="0" i="0" dirty="0" err="1">
                <a:solidFill>
                  <a:srgbClr val="616161"/>
                </a:solidFill>
                <a:latin typeface="Proxima Nova"/>
              </a:rPr>
              <a:t>StandardScaler</a:t>
            </a:r>
            <a:r>
              <a:rPr sz="1300" b="0" i="0" dirty="0">
                <a:solidFill>
                  <a:srgbClr val="616161"/>
                </a:solidFill>
                <a:latin typeface="Proxima Nova"/>
              </a:rPr>
              <a:t> objects serialized with </a:t>
            </a:r>
            <a:r>
              <a:rPr sz="1300" b="0" i="0" dirty="0" err="1">
                <a:solidFill>
                  <a:srgbClr val="616161"/>
                </a:solidFill>
                <a:latin typeface="Proxima Nova"/>
              </a:rPr>
              <a:t>Joblib</a:t>
            </a:r>
            <a:r>
              <a:rPr sz="1300" b="0" i="0" dirty="0">
                <a:solidFill>
                  <a:srgbClr val="616161"/>
                </a:solidFill>
                <a:latin typeface="Proxima Nova"/>
              </a:rPr>
              <a:t> and loaded into </a:t>
            </a:r>
            <a:r>
              <a:rPr sz="1300" b="0" i="0" dirty="0" err="1">
                <a:solidFill>
                  <a:srgbClr val="616161"/>
                </a:solidFill>
                <a:latin typeface="Proxima Nova"/>
              </a:rPr>
              <a:t>Streamlit</a:t>
            </a:r>
            <a:r>
              <a:rPr sz="1300" b="0" i="0" dirty="0">
                <a:solidFill>
                  <a:srgbClr val="616161"/>
                </a:solidFill>
                <a:latin typeface="Proxima Nova"/>
              </a:rPr>
              <a:t> for consistent inference.</a:t>
            </a:r>
          </a:p>
        </p:txBody>
      </p:sp>
      <p:sp>
        <p:nvSpPr>
          <p:cNvPr id="19" name="Rectangle 18"/>
          <p:cNvSpPr/>
          <p:nvPr/>
        </p:nvSpPr>
        <p:spPr>
          <a:xfrm>
            <a:off x="192940" y="3069874"/>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1717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171700" y="3093392"/>
            <a:ext cx="304800" cy="304800"/>
          </a:xfrm>
          <a:prstGeom prst="rect">
            <a:avLst/>
          </a:prstGeom>
          <a:noFill/>
          <a:ln>
            <a:noFill/>
          </a:ln>
        </p:spPr>
        <p:txBody>
          <a:bodyPr wrap="square" lIns="0" tIns="0" rIns="0" bIns="0" anchor="t">
            <a:spAutoFit/>
          </a:bodyPr>
          <a:lstStyle/>
          <a:p>
            <a:pPr algn="ctr"/>
            <a:endParaRPr/>
          </a:p>
        </p:txBody>
      </p:sp>
      <p:pic>
        <p:nvPicPr>
          <p:cNvPr id="22" name="Picture 21" descr="tmpu9jv90fs.png"/>
          <p:cNvPicPr>
            <a:picLocks noChangeAspect="1"/>
          </p:cNvPicPr>
          <p:nvPr/>
        </p:nvPicPr>
        <p:blipFill>
          <a:blip r:embed="rId5"/>
          <a:stretch>
            <a:fillRect/>
          </a:stretch>
        </p:blipFill>
        <p:spPr>
          <a:xfrm>
            <a:off x="843515" y="2429085"/>
            <a:ext cx="304800" cy="304800"/>
          </a:xfrm>
          <a:prstGeom prst="rect">
            <a:avLst/>
          </a:prstGeom>
        </p:spPr>
      </p:pic>
      <p:sp>
        <p:nvSpPr>
          <p:cNvPr id="23" name="TextBox 22"/>
          <p:cNvSpPr txBox="1"/>
          <p:nvPr/>
        </p:nvSpPr>
        <p:spPr>
          <a:xfrm>
            <a:off x="0" y="2534307"/>
            <a:ext cx="4190999" cy="205680"/>
          </a:xfrm>
          <a:prstGeom prst="rect">
            <a:avLst/>
          </a:prstGeom>
          <a:noFill/>
          <a:ln>
            <a:noFill/>
          </a:ln>
        </p:spPr>
        <p:txBody>
          <a:bodyPr wrap="square" lIns="0" tIns="0" rIns="0" bIns="0" anchor="t">
            <a:spAutoFit/>
          </a:bodyPr>
          <a:lstStyle/>
          <a:p>
            <a:pPr algn="ctr"/>
            <a:r>
              <a:rPr sz="1300" b="1" i="0" dirty="0">
                <a:solidFill>
                  <a:srgbClr val="616161"/>
                </a:solidFill>
                <a:latin typeface="Proxima Nova"/>
              </a:rPr>
              <a:t>Accessible Design</a:t>
            </a:r>
          </a:p>
          <a:p>
            <a:pPr algn="ctr">
              <a:spcAft>
                <a:spcPts val="1200"/>
              </a:spcAft>
            </a:pPr>
            <a:r>
              <a:rPr sz="1300" b="0" i="0" dirty="0">
                <a:solidFill>
                  <a:srgbClr val="616161"/>
                </a:solidFill>
                <a:latin typeface="Proxima Nova"/>
              </a:rPr>
              <a:t>Clean UI design ensures ease of use for non-technical users, promoting engagement and health awareness.</a:t>
            </a:r>
          </a:p>
        </p:txBody>
      </p:sp>
      <p:sp>
        <p:nvSpPr>
          <p:cNvPr id="25" name="Rectangle 24"/>
          <p:cNvSpPr/>
          <p:nvPr/>
        </p:nvSpPr>
        <p:spPr>
          <a:xfrm>
            <a:off x="66675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67500" y="3093392"/>
            <a:ext cx="304800" cy="304800"/>
          </a:xfrm>
          <a:prstGeom prst="rect">
            <a:avLst/>
          </a:prstGeom>
          <a:noFill/>
          <a:ln>
            <a:noFill/>
          </a:ln>
        </p:spPr>
        <p:txBody>
          <a:bodyPr wrap="square" lIns="0" tIns="0" rIns="0" bIns="0" anchor="t">
            <a:spAutoFit/>
          </a:bodyPr>
          <a:lstStyle/>
          <a:p>
            <a:pPr algn="ctr"/>
            <a:endParaRPr/>
          </a:p>
        </p:txBody>
      </p:sp>
      <p:pic>
        <p:nvPicPr>
          <p:cNvPr id="27" name="Picture 26" descr="tmpzqwvf4d2.png"/>
          <p:cNvPicPr>
            <a:picLocks noChangeAspect="1"/>
          </p:cNvPicPr>
          <p:nvPr/>
        </p:nvPicPr>
        <p:blipFill>
          <a:blip r:embed="rId6"/>
          <a:stretch>
            <a:fillRect/>
          </a:stretch>
        </p:blipFill>
        <p:spPr>
          <a:xfrm>
            <a:off x="788768" y="3461237"/>
            <a:ext cx="304800" cy="304800"/>
          </a:xfrm>
          <a:prstGeom prst="rect">
            <a:avLst/>
          </a:prstGeom>
        </p:spPr>
      </p:pic>
      <p:sp>
        <p:nvSpPr>
          <p:cNvPr id="28" name="TextBox 27"/>
          <p:cNvSpPr txBox="1"/>
          <p:nvPr/>
        </p:nvSpPr>
        <p:spPr>
          <a:xfrm rot="10800000" flipV="1">
            <a:off x="0" y="3542413"/>
            <a:ext cx="4180569" cy="800219"/>
          </a:xfrm>
          <a:prstGeom prst="rect">
            <a:avLst/>
          </a:prstGeom>
          <a:noFill/>
          <a:ln>
            <a:noFill/>
          </a:ln>
        </p:spPr>
        <p:txBody>
          <a:bodyPr wrap="square" lIns="0" tIns="0" rIns="0" bIns="0" anchor="t">
            <a:spAutoFit/>
          </a:bodyPr>
          <a:lstStyle/>
          <a:p>
            <a:pPr algn="ctr"/>
            <a:r>
              <a:rPr sz="1300" b="1" i="0" dirty="0">
                <a:solidFill>
                  <a:srgbClr val="616161"/>
                </a:solidFill>
                <a:latin typeface="Proxima Nova"/>
              </a:rPr>
              <a:t>End-to-End Flow</a:t>
            </a:r>
          </a:p>
          <a:p>
            <a:pPr algn="ctr">
              <a:spcAft>
                <a:spcPts val="1200"/>
              </a:spcAft>
            </a:pPr>
            <a:r>
              <a:rPr sz="1300" b="0" i="0" dirty="0">
                <a:solidFill>
                  <a:srgbClr val="616161"/>
                </a:solidFill>
                <a:latin typeface="Proxima Nova"/>
              </a:rPr>
              <a:t>Real-time predictions demonstrate how machine learning models can power user-centric health analytics applications.</a:t>
            </a:r>
          </a:p>
        </p:txBody>
      </p:sp>
      <p:pic>
        <p:nvPicPr>
          <p:cNvPr id="33" name="Picture 32">
            <a:extLst>
              <a:ext uri="{FF2B5EF4-FFF2-40B4-BE49-F238E27FC236}">
                <a16:creationId xmlns:a16="http://schemas.microsoft.com/office/drawing/2014/main" id="{D7DEBD46-D43E-4841-9D11-E889E581AD66}"/>
              </a:ext>
            </a:extLst>
          </p:cNvPr>
          <p:cNvPicPr>
            <a:picLocks noChangeAspect="1"/>
          </p:cNvPicPr>
          <p:nvPr/>
        </p:nvPicPr>
        <p:blipFill>
          <a:blip r:embed="rId7"/>
          <a:stretch>
            <a:fillRect/>
          </a:stretch>
        </p:blipFill>
        <p:spPr>
          <a:xfrm>
            <a:off x="4039702" y="712925"/>
            <a:ext cx="5104298" cy="36124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96053-2C14-4AB2-B19B-D5857BD42C69}"/>
              </a:ext>
            </a:extLst>
          </p:cNvPr>
          <p:cNvSpPr>
            <a:spLocks noGrp="1"/>
          </p:cNvSpPr>
          <p:nvPr>
            <p:ph type="title"/>
          </p:nvPr>
        </p:nvSpPr>
        <p:spPr/>
        <p:txBody>
          <a:bodyPr>
            <a:normAutofit fontScale="90000"/>
          </a:bodyPr>
          <a:lstStyle/>
          <a:p>
            <a:r>
              <a:rPr lang="en-IN" dirty="0">
                <a:solidFill>
                  <a:srgbClr val="7030A0"/>
                </a:solidFill>
                <a:latin typeface="Times New Roman" panose="02020603050405020304" pitchFamily="18" charset="0"/>
                <a:cs typeface="Times New Roman" panose="02020603050405020304" pitchFamily="18" charset="0"/>
              </a:rPr>
              <a:t>Applications &amp; Future Enhancements</a:t>
            </a:r>
            <a:br>
              <a:rPr lang="en-IN" dirty="0">
                <a:solidFill>
                  <a:srgbClr val="7030A0"/>
                </a:solidFill>
                <a:latin typeface="Times New Roman" panose="02020603050405020304" pitchFamily="18" charset="0"/>
                <a:cs typeface="Times New Roman" panose="02020603050405020304" pitchFamily="18" charset="0"/>
              </a:rPr>
            </a:br>
            <a:endParaRPr lang="en-IN"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0725A68D-770A-43B8-A00B-9D584CEC0D9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
        <p:nvSpPr>
          <p:cNvPr id="8" name="TextBox 7">
            <a:extLst>
              <a:ext uri="{FF2B5EF4-FFF2-40B4-BE49-F238E27FC236}">
                <a16:creationId xmlns:a16="http://schemas.microsoft.com/office/drawing/2014/main" id="{D10E7C24-38C2-4C6B-8550-3CB7985CD62A}"/>
              </a:ext>
            </a:extLst>
          </p:cNvPr>
          <p:cNvSpPr txBox="1"/>
          <p:nvPr/>
        </p:nvSpPr>
        <p:spPr>
          <a:xfrm>
            <a:off x="2004237" y="1585829"/>
            <a:ext cx="5135526" cy="2509284"/>
          </a:xfrm>
          <a:prstGeom prst="rect">
            <a:avLst/>
          </a:prstGeom>
          <a:noFill/>
        </p:spPr>
        <p:txBody>
          <a:bodyPr wrap="square" rtlCol="0">
            <a:spAutoFit/>
          </a:bodyPr>
          <a:lstStyle/>
          <a:p>
            <a:endParaRPr lang="en-IN" dirty="0"/>
          </a:p>
        </p:txBody>
      </p:sp>
      <p:pic>
        <p:nvPicPr>
          <p:cNvPr id="10" name="Picture 9">
            <a:extLst>
              <a:ext uri="{FF2B5EF4-FFF2-40B4-BE49-F238E27FC236}">
                <a16:creationId xmlns:a16="http://schemas.microsoft.com/office/drawing/2014/main" id="{228ECAAE-AF0B-4D2D-B739-1E3291672776}"/>
              </a:ext>
            </a:extLst>
          </p:cNvPr>
          <p:cNvPicPr>
            <a:picLocks noChangeAspect="1"/>
          </p:cNvPicPr>
          <p:nvPr/>
        </p:nvPicPr>
        <p:blipFill>
          <a:blip r:embed="rId2"/>
          <a:stretch>
            <a:fillRect/>
          </a:stretch>
        </p:blipFill>
        <p:spPr>
          <a:xfrm>
            <a:off x="323725" y="1379690"/>
            <a:ext cx="8697433" cy="3283527"/>
          </a:xfrm>
          <a:prstGeom prst="rect">
            <a:avLst/>
          </a:prstGeom>
        </p:spPr>
      </p:pic>
    </p:spTree>
    <p:extLst>
      <p:ext uri="{BB962C8B-B14F-4D97-AF65-F5344CB8AC3E}">
        <p14:creationId xmlns:p14="http://schemas.microsoft.com/office/powerpoint/2010/main" val="3822081208"/>
      </p:ext>
    </p:extLst>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63D297"/>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275</TotalTime>
  <Words>1296</Words>
  <Application>Microsoft Office PowerPoint</Application>
  <PresentationFormat>On-screen Show (16:9)</PresentationFormat>
  <Paragraphs>91</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Proxima Nova</vt:lpstr>
      <vt:lpstr>Times New Roman</vt:lpstr>
      <vt:lpstr>Arial</vt:lpstr>
      <vt:lpstr>Spearmint</vt:lpstr>
      <vt:lpstr>End-to-End ML Project: “Health Score Predictor”</vt:lpstr>
      <vt:lpstr>Project Objective &amp; Overview</vt:lpstr>
      <vt:lpstr>Input Features &amp; Target Variable</vt:lpstr>
      <vt:lpstr>Model Training</vt:lpstr>
      <vt:lpstr>Model Evaluation</vt:lpstr>
      <vt:lpstr>Best Model – Logistic Regression</vt:lpstr>
      <vt:lpstr>Streamlit App Deployment</vt:lpstr>
      <vt:lpstr>Applications &amp; Future Enhancements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End-to-End ML Project: “Health Score Predictor”</dc:title>
  <dc:creator>yoga s</dc:creator>
  <cp:lastModifiedBy>yoga yoga</cp:lastModifiedBy>
  <cp:revision>16</cp:revision>
  <dcterms:modified xsi:type="dcterms:W3CDTF">2025-11-01T16:43:41Z</dcterms:modified>
</cp:coreProperties>
</file>